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5438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0AEC0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ФЕРГАНСКИЙ ГОСУДАРСТВЕННЫЙ ТЕХНИЧЕСКИЙ УНИВЕРСИТЕТ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Психология влияния и манипуляции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 sz="4800" b="1">
                <a:solidFill>
                  <a:srgbClr val="00B4FF"/>
                </a:solidFill>
                <a:latin typeface="Times New Roman" panose="02020603050405020304" charset="0"/>
                <a:cs typeface="Times New Roman" panose="02020603050405020304" charset="0"/>
              </a:rPr>
              <a:t>в цифровую эпоху</a:t>
            </a:r>
            <a:endParaRPr sz="4800" b="1">
              <a:solidFill>
                <a:srgbClr val="00B4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400"/>
              </a:spcBef>
              <a:defRPr sz="20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Как социальные сети управляют поведением человека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Экранное время: 7ч 48м в день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Средний показатель вовлеченности современного пользователя в цифровые сети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Автор работы: Фозилов Хумоюнмирзо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3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Группа: 647-23  •  Ферганский Государственный Технический Университет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Что такое цифровое влияние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Цифровое влияние (Digital Influence) — это целенаправленная модификация паттернов мышления, эмоциональных состояний и поведенческих реакций человека посредством цифровых интерфейсов и алгоритмов.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2400"/>
              </a:spcBef>
              <a:defRPr sz="20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Архитектура выбора (Choice Architecture):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defRPr sz="15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Интерфейсы социальных платформ спроектированы так, чтобы направлять внимание пользователя по заранее определенным маршрутам, незаметно подталкивая его к нужным платформе целевым действиям.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436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Петля вовлечения внимания (Модель «Крючок»)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1. Триггер (Trigger): </a:t>
            </a:r>
            <a:r>
              <a:rPr sz="13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Внешний (красный пуш) или внутренний (чувство одиночества, скуки).</a:t>
            </a:r>
            <a:endParaRPr sz="13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2. Действие (Action): </a:t>
            </a:r>
            <a:r>
              <a:rPr sz="13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Минимально затратное действие для быстрого старта (один свайп ленты).</a:t>
            </a:r>
            <a:endParaRPr sz="13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3. Награда (Variable Reward): </a:t>
            </a:r>
            <a:r>
              <a:rPr sz="13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Непредсказуемая дофаминовая лотерея (мемы, лайки, чаты).</a:t>
            </a:r>
            <a:endParaRPr sz="13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4. Вклад (Investment): </a:t>
            </a:r>
            <a:r>
              <a:rPr sz="13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Пользователь оставляет данные, фото, коменты, привязываясь к сети.</a:t>
            </a:r>
            <a:endParaRPr sz="13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Психологические хаки мозга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Дофаминовый крючок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400"/>
              </a:spcBef>
              <a:defRPr sz="1300" b="1">
                <a:solidFill>
                  <a:srgbClr val="A0AEC0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Система вознаграждения &amp; Переменное подкрепление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Bef>
                <a:spcPts val="1800"/>
              </a:spcBef>
              <a:defRPr sz="1400">
                <a:solidFill>
                  <a:srgbClr val="F5F7FA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Мозг выделяет пиковый дофамин не при получении награды, а при ее предвкушении и непредсказуемости. Каждый свайп ленты — как рычаг игрового автомата: мозг жаждет узнать, что дальше.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436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Синдром FOMO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400"/>
              </a:spcBef>
              <a:defRPr sz="1300" b="1">
                <a:solidFill>
                  <a:srgbClr val="A0AEC0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Страх упущенной выгоды (Fear of Missing Out)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Bef>
                <a:spcPts val="1800"/>
              </a:spcBef>
              <a:defRPr sz="1400">
                <a:solidFill>
                  <a:srgbClr val="F5F7FA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Эволюционный страх остаться вне племени. Амигдала паникует при мысли, что сверстники знают и обсуждают что-то важное без вас, вынуждая проверять уведомления каждые 10 минут.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Социальное одобрение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400"/>
              </a:spcBef>
              <a:defRPr sz="1300" b="1">
                <a:solidFill>
                  <a:srgbClr val="A0AEC0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Эволюционная тяга к социальному признанию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Bef>
                <a:spcPts val="1800"/>
              </a:spcBef>
              <a:defRPr sz="1400">
                <a:solidFill>
                  <a:srgbClr val="F5F7FA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Лайки и реакции считываются древними слоями мозга как знаки высокого статуса в общине. Это дает микро-выброс эндорфинов, привязывая самооценку к цифровому признанию.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Механики удержания внимания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Дизайн интерфейсов современных социальных сетей — это бихевиоризм в чистом виде. Платформы сознательно эксплуатируют уязвимости человеческой психики.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2000"/>
              </a:spcBef>
              <a:defRPr sz="18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«Если продукт бесплатен, значит продукт — это ваше Внимание»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35040" y="1828800"/>
            <a:ext cx="2560320" cy="19202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436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7220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Лайки &amp; Реакции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2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Цифровая валюта. Вызывают быстрый дофаминовый отклик при получении.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778240" y="1828800"/>
            <a:ext cx="2560320" cy="19202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1540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Бесконечная лента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2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Стирает стоп-сигналы. Мозг не может зафиксировать естественный конец сессии.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35040" y="3931920"/>
            <a:ext cx="2560320" cy="19202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2200" y="4069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Рекомендации AI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2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Строят эхо-камеры. Идеально таргетируют скрытые триггеры и слабости.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778240" y="3931920"/>
            <a:ext cx="2560320" cy="19202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15400" y="4069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0AEC0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Микротаргетинг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2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Сверхточная реклама на основе детального психографического портрета.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Цифры и научные доказательства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8.2 секунды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Текущий средний порог удержания внимания человека (в 2000 году он составлял 12 секунд. У золотой рыбки этот показатель равен 9 секундам).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2800"/>
              </a:spcBef>
              <a:defRPr sz="36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150+ раз в день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В среднем современный пользователь разблокирует экран своего мобильного телефона.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436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8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Исследование: Эффект присутствия смартфона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(Ward et al., University of Texas)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400"/>
              </a:spcBef>
              <a:defRPr sz="15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Когнитивный штраф: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 sz="14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Исследование доказало, что даже если смартфон лежит на рабочем столе экраном вниз или полностью выключен в кармане, он все равно снижает объем доступной оперативной памяти мозга.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defRPr sz="14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Мозг тратит бессознательные ресурсы на подавление желания проверить телефон. Лучшее решение — убрать устройство в другую комнату во время учебы.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Влияние на академическую среду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Фрагментация мышления (Внимание)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3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Постоянные уведомления разрушают глубокий интеллектуальный фокус. Студенты привыкают к клиповому, поверхностному сканированию текстов вместо аналитического понимания.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192024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436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Штраф за переключение (Продуктивность)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3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Многозадачности не существует. Переключение между лекцией и мессенджером крадет до 20 минут фокусного времени на возврат в состояние потока.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Деградация воли (Мотивация)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3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Академические успехи требуют отложенной награды. Мозг, привыкший к секундному дофамину за клик, начинает саботировать сложные долгосрочные курсовые проекты.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4023360"/>
            <a:ext cx="5120640" cy="192024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FF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4160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0050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Депрессивные расстройства (Психика)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defRPr sz="13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Постоянное сравнение своей жизни с идеализированными цифровыми профилями сверстников провоцирует тревожность, комплекс самозванца и нарушения сна.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Педагогический ответ цифре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Борьба с гаджетами и их запреты в университетских аудиториях неэффективны. Педагогика должна адаптироваться к новой реальности.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2400"/>
              </a:spcBef>
              <a:defRPr sz="20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Ключевые стратегии интеграции: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defRPr sz="1500">
                <a:solidFill>
                  <a:srgbClr val="F5F7FA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1. Использование смартфонов как интерактивных учебных инструментов (Kahoot квизы, мгновенные опросы, совместные ментальные карты).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2. Целенаправленное развитие критического мышления и фактчекинга в условиях избытка цифрового шума.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436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Модель удержания внимания на лекции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0 - 15 мин: Теоретический Ядро: </a:t>
            </a:r>
            <a:r>
              <a:rPr sz="12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Максимальная концентрация внимания. Изложение базовой сути темы, никаких внешних гаджетов.</a:t>
            </a:r>
            <a:endParaRPr sz="12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15 - 30 мин: Цифровая интеграция: </a:t>
            </a:r>
            <a:r>
              <a:rPr sz="12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Включение гаджетов. Быстрый групповой квиз по пройденному блоку или совместный фактчекинг в реальном времени.</a:t>
            </a:r>
            <a:endParaRPr sz="12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30 - 45 мин: Творческая рефлексия: </a:t>
            </a:r>
            <a:r>
              <a:rPr sz="12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Закрепление материала без экранов. Групповые обсуждения, формулирование выводов.</a:t>
            </a:r>
            <a:endParaRPr sz="12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07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Цифровая самооборона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Мы не можем заставить IT-гигантов изменить их бизнес-модели. Но мы можем взять управление нашей цифровой диетой в свои руки.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2400"/>
              </a:spcBef>
              <a:defRPr sz="20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Принципиальные шаги очистки: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defRPr sz="1500">
                <a:solidFill>
                  <a:srgbClr val="F5F7FA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Создавайте «Аналоговые Убежища» — зоны в доме (особенно спальня) и время (первый час после сна), полностью свободные от цифровых экранов.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• Добавляйте осознанное трение (Friction): разлогиньтесь из соцсетей, уберите иконки в глубокие папки, чтобы вход требовал усилий.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Пульт управления фокусом внимания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✔ Черно-белый режим экрана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 sz="12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Убивает дофаминовый блеск и привлекательность разноцветных иконок приложений (+20% фокуса).</a:t>
            </a:r>
            <a:endParaRPr sz="12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✔ Отключение Push (кроме людей)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 sz="12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Вас не должны дергать боты и авто-уведомления. Только реальные люди (+20% фокуса).</a:t>
            </a:r>
            <a:endParaRPr sz="12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✔ Жесткие лимиты экранного времени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 sz="12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Автоблокировка развлекательных сервисов после 40 минут использования в день (+20% фокуса).</a:t>
            </a:r>
            <a:endParaRPr sz="12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✔ Аналоговый будильник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 sz="1200" b="0">
                <a:solidFill>
                  <a:srgbClr val="A0AEC0"/>
                </a:solidFill>
                <a:latin typeface="Times New Roman" panose="02020603050405020304" charset="0"/>
                <a:cs typeface="Times New Roman" panose="02020603050405020304" charset="0"/>
              </a:rPr>
              <a:t>Зарядка телефона вне спальни. Никаких экранов перед сном и сразу после пробуждения (+20% фокуса).</a:t>
            </a:r>
            <a:endParaRPr sz="1200" b="0">
              <a:solidFill>
                <a:srgbClr val="A0AEC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784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0" b="1">
                <a:solidFill>
                  <a:srgbClr val="4364F7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“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defRPr sz="3000" b="0" i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Если вы не платите за продукт, значит, вы и есть продукт. Социальные сети продают рекламодателям постепенное, незаметное изменение вашего поведения и восприятия мира.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2400"/>
              </a:spcBef>
              <a:defRPr sz="16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— Тристан Харрис, сооснователь Центра гуманных технологий, экс-этик Google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3600"/>
              </a:spcBef>
              <a:defRPr sz="16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В цифровую эпоху самое ценное, чем вы обладаете — это ваше Внимание. Это единственный невосполнимый ресурс. Верните его себе.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332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Спасибо за внимание!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800">
                <a:solidFill>
                  <a:srgbClr val="00B4FF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Время вернуть контроль над своим вниманием.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10698480" cy="25603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436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149840" cy="2112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Фозилов Хумоюнмирзо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400"/>
              </a:spcBef>
              <a:defRPr sz="1400" b="1">
                <a:solidFill>
                  <a:srgbClr val="00B4FF"/>
                </a:solidFill>
                <a:latin typeface="Outfit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Автор научной презентации  •  Студент </a:t>
            </a:r>
            <a:r>
              <a:rPr lang="ru-RU">
                <a:latin typeface="Times New Roman" panose="02020603050405020304" charset="0"/>
                <a:cs typeface="Times New Roman" panose="02020603050405020304" charset="0"/>
              </a:rPr>
              <a:t>Университета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Информационных Технологий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  <a:spcBef>
                <a:spcPts val="1600"/>
              </a:spcBef>
              <a:defRPr sz="1400">
                <a:solidFill>
                  <a:srgbClr val="A0AEC0"/>
                </a:solidFill>
                <a:latin typeface="Inter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Группа: 647-23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ВУЗ: Ферганский Государственный Технический Университет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Кафедра: Информационные Технологии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Email: fozilov@fstu.uz  •  Локация: Фергана, Узбекистан, 2026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6465</Words>
  <Application>WPS Presentation</Application>
  <PresentationFormat>On-screen Show (4:3)</PresentationFormat>
  <Paragraphs>129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Outfit</vt:lpstr>
      <vt:lpstr>Segoe Print</vt:lpstr>
      <vt:lpstr>Inter</vt:lpstr>
      <vt:lpstr>Microsoft YaHei</vt:lpstr>
      <vt:lpstr>Arial Unicode MS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WPS_1774854506</cp:lastModifiedBy>
  <cp:revision>2</cp:revision>
  <dcterms:created xsi:type="dcterms:W3CDTF">2013-01-27T09:14:00Z</dcterms:created>
  <dcterms:modified xsi:type="dcterms:W3CDTF">2026-05-30T16:32:47Z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7F71D82BD36A4CD1B37EA2CB143E8D53_13</vt:lpwstr>
  </property>
</Properties>
</file>